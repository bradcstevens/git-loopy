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shift in leverage: the goal is not a better one-off prompt. The goal is a repeatable system that turns intent into reviewable value. git-loopy is the execution framework; loop engineering is the human discipline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a fast but opaque prompt loop with an engineering loop. The problem is not model capability. It is the loss of intent, the size of the work, and the absence of a trustworthy definition of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git-loopy as the framework in a larger socio-technical loop. The human, the skills, the tracker, the Runner family, and the repository each have a distinct role. The Ralph loop remains the technique, not the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loop engineer as a concrete operating role. The human shapes intent, creates safe slices, sets the quality bar, and judges the result. git-loopy makes execution repeatable but never assumes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Matt Pocock's core insight: focused, composable skills preserve control and make failures diagnosable. git-loopy adopts that workflow, then supplies the unattended execution path after triage. The planning skills remain human-led; the execution skills are safe for autonomous Iterations.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planning phase from a vague idea to a triaged Pool. The human resolves decision branches; research and prototypes add evidence; the spec is the destination and the tickets are the route. The ready-for-agent label is the explicit delegation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serial Iteration contract. The agent receives a current Pool, declares one Active issue, works vertically, runs the repository feedback loops, persists completion, and accounts for progress. Fresh contexts and visible guardrails make autonomy safer, not less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story on one slide. The loop engineer shapes and delegates. git-loopy executes triaged work in bounded Iterations. The loop engineer accepts the value or creates the next explicit slice. Closed issues and commits carry state between fresh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four reusable rules. The audience should leave seeing loop engineering as a human discipline and git-loopy as the framework that makes the autonomous half bounded, observable, and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66928"/>
            <a:ext cx="1225296" cy="310896"/>
          </a:xfrm>
          <a:prstGeom prst="round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0644"/>
            <a:ext cx="107899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CC9F0"/>
                </a:solidFill>
                <a:latin typeface="Consolas"/>
              </a:defRPr>
            </a:pPr>
            <a:r>
              <a:t>FROM VIBES TO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5806440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4F7FB"/>
                </a:solidFill>
                <a:latin typeface="Aptos Display"/>
              </a:defRPr>
            </a:pPr>
            <a:r>
              <a:t>An introduction to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4F7FB"/>
                </a:solidFill>
                <a:latin typeface="Aptos Display"/>
              </a:defRPr>
            </a:pPr>
            <a: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56432"/>
            <a:ext cx="53949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9B8CC"/>
                </a:solidFill>
                <a:latin typeface="Aptos"/>
              </a:defRPr>
            </a:pPr>
            <a:r>
              <a:t>Human-led planning. Autonomous execution. Human judgment.</a:t>
            </a:r>
          </a:p>
        </p:txBody>
      </p:sp>
      <p:sp>
        <p:nvSpPr>
          <p:cNvPr id="8" name="Oval 7"/>
          <p:cNvSpPr/>
          <p:nvPr/>
        </p:nvSpPr>
        <p:spPr>
          <a:xfrm>
            <a:off x="7114032" y="960120"/>
            <a:ext cx="3794760" cy="3794760"/>
          </a:xfrm>
          <a:prstGeom prst="ellipse">
            <a:avLst/>
          </a:prstGeom>
          <a:solidFill>
            <a:srgbClr val="09182A"/>
          </a:solidFill>
          <a:ln w="2540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54112" y="1600200"/>
            <a:ext cx="2514600" cy="2514600"/>
          </a:xfrm>
          <a:prstGeom prst="ellipse">
            <a:avLst/>
          </a:prstGeom>
          <a:solidFill>
            <a:srgbClr val="07111F"/>
          </a:solidFill>
          <a:ln w="25400">
            <a:solidFill>
              <a:srgbClr val="5B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75904" y="2221992"/>
            <a:ext cx="1280160" cy="1280160"/>
          </a:xfrm>
          <a:prstGeom prst="ellipse">
            <a:avLst/>
          </a:prstGeom>
          <a:solidFill>
            <a:srgbClr val="1B3658"/>
          </a:solidFill>
          <a:ln w="2032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2395728"/>
            <a:ext cx="1280160" cy="7863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B"/>
                </a:solidFill>
                <a:latin typeface="Consolas"/>
              </a:defRPr>
            </a:pPr>
            <a:r>
              <a:t>git-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B"/>
                </a:solidFill>
                <a:latin typeface="Consolas"/>
              </a:defRPr>
            </a:pPr>
            <a:r>
              <a:t>loopy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822960"/>
            <a:ext cx="1143000" cy="384048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841248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417320"/>
            <a:ext cx="1143000" cy="384048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1435608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C084FC"/>
                </a:solidFill>
                <a:latin typeface="Consolas"/>
              </a:defRPr>
            </a:pPr>
            <a:r>
              <a:t>SLICE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4251960"/>
            <a:ext cx="1143000" cy="384048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4270248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A3E635"/>
                </a:solidFill>
                <a:latin typeface="Consolas"/>
              </a:defRPr>
            </a:pPr>
            <a:r>
              <a:t>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886200"/>
            <a:ext cx="1143000" cy="384048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904487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BBF24"/>
                </a:solidFill>
                <a:latin typeface="Consolas"/>
              </a:defRPr>
            </a:pPr>
            <a:r>
              <a:t>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74920"/>
            <a:ext cx="5852160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8CC"/>
                </a:solidFill>
                <a:latin typeface="Aptos"/>
              </a:rPr>
              <a:t>A GitHub Copilot SDK framework for </a:t>
            </a:r>
            <a:r>
              <a:rPr sz="1500" b="1">
                <a:solidFill>
                  <a:srgbClr val="F4F7FB"/>
                </a:solidFill>
                <a:latin typeface="Aptos"/>
              </a:rPr>
              <a:t>bounded, observable delivery</a:t>
            </a:r>
            <a:r>
              <a:rPr sz="1500" b="0">
                <a:solidFill>
                  <a:srgbClr val="A9B8CC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190488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7809F"/>
                </a:solidFill>
                <a:latin typeface="Consolas"/>
              </a:defRPr>
            </a:pPr>
            <a:r>
              <a:t>github.com/bradcstevens/git-loopy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18134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7111F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7111F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Speed without structure is still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Models can produce code quickly. The hard part is preserving intent, feedback, and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084831"/>
            <a:ext cx="3154680" cy="2084831"/>
          </a:xfrm>
          <a:prstGeom prst="roundRect">
            <a:avLst/>
          </a:prstGeom>
          <a:solidFill>
            <a:srgbClr val="241C32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84831"/>
            <a:ext cx="3154680" cy="6400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40279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B7185"/>
                </a:solidFill>
                <a:latin typeface="Consolas"/>
              </a:defRPr>
            </a:pPr>
            <a:r>
              <a:t>THE VIBES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05456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B"/>
                </a:solidFill>
                <a:latin typeface="Aptos Display"/>
              </a:defRPr>
            </a:pPr>
            <a:r>
              <a:t>Prompt. Hope. Patch. Repeat.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35808"/>
            <a:ext cx="2752344" cy="9692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Intent lives in chat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Scope grows invisibly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Success means "looks plausible"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7639" y="2898648"/>
            <a:ext cx="438912" cy="45720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2084831"/>
            <a:ext cx="3154680" cy="2084831"/>
          </a:xfrm>
          <a:prstGeom prst="roundRect">
            <a:avLst/>
          </a:prstGeom>
          <a:solidFill>
            <a:srgbClr val="102A3A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2084831"/>
            <a:ext cx="3154680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240279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CC9F0"/>
                </a:solidFill>
                <a:latin typeface="Consolas"/>
              </a:defRPr>
            </a:pPr>
            <a:r>
              <a:t>THE ENGINEERING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505456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7FB"/>
                </a:solidFill>
                <a:latin typeface="Aptos Display"/>
              </a:defRPr>
            </a:pPr>
            <a:r>
              <a:t>Shape. Slice. Verify. Judge.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35808"/>
            <a:ext cx="2752344" cy="9692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Intent becomes durable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Work stays context-sized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9B8CC"/>
                </a:solidFill>
                <a:latin typeface="Aptos"/>
              </a:defRPr>
            </a:pPr>
            <a:r>
              <a:t>- Evidence decides done</a:t>
            </a:r>
          </a:p>
        </p:txBody>
      </p:sp>
      <p:sp>
        <p:nvSpPr>
          <p:cNvPr id="20" name="Chevron 19"/>
          <p:cNvSpPr/>
          <p:nvPr/>
        </p:nvSpPr>
        <p:spPr>
          <a:xfrm>
            <a:off x="8028431" y="2898648"/>
            <a:ext cx="438912" cy="457200"/>
          </a:xfrm>
          <a:prstGeom prst="chevron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05088" y="2084831"/>
            <a:ext cx="2871216" cy="2084831"/>
          </a:xfrm>
          <a:prstGeom prst="roundRect">
            <a:avLst/>
          </a:prstGeom>
          <a:solidFill>
            <a:srgbClr val="193329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414016"/>
            <a:ext cx="235915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3E635"/>
                </a:solidFill>
                <a:latin typeface="Consolas"/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834640"/>
            <a:ext cx="2359152" cy="7863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7FB"/>
                </a:solidFill>
                <a:latin typeface="Aptos Display"/>
              </a:defRPr>
            </a:pPr>
            <a:r>
              <a:t>Working software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7FB"/>
                </a:solidFill>
                <a:latin typeface="Aptos Display"/>
              </a:defRPr>
            </a:pPr>
            <a:r>
              <a:t>people can trust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4617720"/>
            <a:ext cx="3401568" cy="105156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773168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718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736592"/>
            <a:ext cx="25146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4F7FB"/>
                </a:solidFill>
                <a:latin typeface="Aptos Display"/>
              </a:defRPr>
            </a:pPr>
            <a:r>
              <a:t>Intent evaporates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507492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No durable destination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4617720"/>
            <a:ext cx="3401568" cy="105156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4773168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084F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8616" y="4736592"/>
            <a:ext cx="25146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4F7FB"/>
                </a:solidFill>
                <a:latin typeface="Aptos Display"/>
              </a:defRPr>
            </a:pPr>
            <a:r>
              <a:t>Context degrades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507492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Tasks exceed the smart zone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617720"/>
            <a:ext cx="3401568" cy="105156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773168"/>
            <a:ext cx="4206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BBF2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4736592"/>
            <a:ext cx="25146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4F7FB"/>
                </a:solidFill>
                <a:latin typeface="Aptos Display"/>
              </a:defRPr>
            </a:pPr>
            <a:r>
              <a:t>Quality hides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507492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No visible feedback 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README.md: Intro to git-loopy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9182A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9182A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git-loopy makes autonomous delivery explicit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It implements the Ralph loop technique; the product, command, and on-disk brand are git-loopy.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2860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2286000"/>
            <a:ext cx="73152" cy="107899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414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Loop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072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Intent, guardrails,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and judgment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2606040" y="2660904"/>
            <a:ext cx="182880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22860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2286000"/>
            <a:ext cx="73152" cy="107899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4414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8072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Shape, slice,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and verify</a:t>
            </a:r>
          </a:p>
        </p:txBody>
      </p:sp>
      <p:sp>
        <p:nvSpPr>
          <p:cNvPr id="18" name="Chevron 17"/>
          <p:cNvSpPr/>
          <p:nvPr/>
        </p:nvSpPr>
        <p:spPr>
          <a:xfrm>
            <a:off x="4837176" y="2660904"/>
            <a:ext cx="182880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22860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2286000"/>
            <a:ext cx="73152" cy="10789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24414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Issue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8072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Spec + ready-for-agent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issues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8312" y="2660904"/>
            <a:ext cx="182880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78624" y="22860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624" y="2286000"/>
            <a:ext cx="73152" cy="1078992"/>
          </a:xfrm>
          <a:prstGeom prst="rect">
            <a:avLst/>
          </a:prstGeom>
          <a:solidFill>
            <a:srgbClr val="5B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24414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Runner family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8072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Repeatable autonomous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Iterations</a:t>
            </a:r>
          </a:p>
        </p:txBody>
      </p:sp>
      <p:sp>
        <p:nvSpPr>
          <p:cNvPr id="28" name="Chevron 27"/>
          <p:cNvSpPr/>
          <p:nvPr/>
        </p:nvSpPr>
        <p:spPr>
          <a:xfrm>
            <a:off x="9299448" y="2660904"/>
            <a:ext cx="182880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9760" y="22860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286000"/>
            <a:ext cx="73152" cy="107899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4414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8072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Validated commits 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closed issues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3767328"/>
            <a:ext cx="10972800" cy="1389888"/>
          </a:xfrm>
          <a:prstGeom prst="roundRect">
            <a:avLst/>
          </a:prstGeom>
          <a:solidFill>
            <a:srgbClr val="09182A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00507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THE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3941063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B"/>
                </a:solidFill>
                <a:latin typeface="Aptos Display"/>
              </a:defRPr>
            </a:pPr>
            <a:r>
              <a:t>One Active issue per Iteration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941063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B"/>
                </a:solidFill>
                <a:latin typeface="Aptos Display"/>
              </a:defRPr>
            </a:pPr>
            <a:r>
              <a:t>Explicit acceptance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941063"/>
            <a:ext cx="3063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F7FB"/>
                </a:solidFill>
                <a:latin typeface="Aptos Display"/>
              </a:defRPr>
            </a:pPr>
            <a:r>
              <a:t>Visible progress + guardrails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599432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9B8CC"/>
                </a:solidFill>
                <a:latin typeface="Aptos"/>
              </a:defRPr>
            </a:pPr>
            <a:r>
              <a:t>Runner family: Python reference now | shell, PowerShell, and Rust Orchestrators 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596128"/>
            <a:ext cx="7543800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9B8CC"/>
                </a:solidFill>
                <a:latin typeface="Aptos"/>
              </a:rPr>
              <a:t>The loop closes when </a:t>
            </a:r>
            <a:r>
              <a:rPr sz="1450" b="1">
                <a:solidFill>
                  <a:srgbClr val="F4F7FB"/>
                </a:solidFill>
                <a:latin typeface="Aptos"/>
              </a:rPr>
              <a:t>validated repository state</a:t>
            </a:r>
            <a:r>
              <a:rPr sz="1450" b="0">
                <a:solidFill>
                  <a:srgbClr val="A9B8CC"/>
                </a:solidFill>
                <a:latin typeface="Aptos"/>
              </a:rPr>
              <a:t> returns to </a:t>
            </a:r>
            <a:r>
              <a:rPr sz="1450" b="1">
                <a:solidFill>
                  <a:srgbClr val="4CC9F0"/>
                </a:solidFill>
                <a:latin typeface="Aptos"/>
              </a:rPr>
              <a:t>human judgment</a:t>
            </a:r>
            <a:r>
              <a:rPr sz="1450" b="0">
                <a:solidFill>
                  <a:srgbClr val="A9B8CC"/>
                </a:solidFill>
                <a:latin typeface="Aptos"/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 + CONTEXT.md + ADR-0013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7111F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7111F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THE HUMAN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The loop engineer moves leverage up a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The scarce skill is no longer producing every line. It is designing a system that can move safely.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8503920" cy="4754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9B8CC"/>
                </a:solidFill>
                <a:latin typeface="Aptos"/>
              </a:rPr>
              <a:t>"Leverage moves from </a:t>
            </a:r>
            <a:r>
              <a:rPr sz="2100" b="1">
                <a:solidFill>
                  <a:srgbClr val="FB7185"/>
                </a:solidFill>
                <a:latin typeface="Aptos"/>
              </a:rPr>
              <a:t>keystrokes</a:t>
            </a:r>
            <a:r>
              <a:rPr sz="2100" b="0">
                <a:solidFill>
                  <a:srgbClr val="A9B8CC"/>
                </a:solidFill>
                <a:latin typeface="Aptos"/>
              </a:rPr>
              <a:t> to </a:t>
            </a:r>
            <a:r>
              <a:rPr sz="2100" b="1">
                <a:solidFill>
                  <a:srgbClr val="4CC9F0"/>
                </a:solidFill>
                <a:latin typeface="Aptos"/>
              </a:rPr>
              <a:t>loop quality</a:t>
            </a:r>
            <a:r>
              <a:rPr sz="2100" b="0">
                <a:solidFill>
                  <a:srgbClr val="A9B8CC"/>
                </a:solidFill>
                <a:latin typeface="Aptos"/>
              </a:rPr>
              <a:t>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61488"/>
            <a:ext cx="5340096" cy="2395728"/>
          </a:xfrm>
          <a:prstGeom prst="roundRect">
            <a:avLst/>
          </a:prstGeom>
          <a:solidFill>
            <a:srgbClr val="102A3A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61488"/>
            <a:ext cx="5340096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49377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CC9F0"/>
                </a:solidFill>
                <a:latin typeface="Consolas"/>
              </a:defRPr>
            </a:pPr>
            <a:r>
              <a:t>LOOP ENGINEER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493775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B"/>
                </a:solidFill>
                <a:latin typeface="Aptos Display"/>
              </a:defRPr>
            </a:pPr>
            <a:r>
              <a:t>Intent, constraints, and judgment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3"/>
            <a:ext cx="4937759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Domain language and desired outcome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Issue slicing and acceptance criteria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Guardrails, feedback loops, final taste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761488"/>
            <a:ext cx="5340096" cy="2395728"/>
          </a:xfrm>
          <a:prstGeom prst="roundRect">
            <a:avLst/>
          </a:prstGeom>
          <a:solidFill>
            <a:srgbClr val="152442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2761488"/>
            <a:ext cx="5340096" cy="64008"/>
          </a:xfrm>
          <a:prstGeom prst="rect">
            <a:avLst/>
          </a:prstGeom>
          <a:solidFill>
            <a:srgbClr val="5B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916936"/>
            <a:ext cx="49377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B7CFA"/>
                </a:solidFill>
                <a:latin typeface="Consolas"/>
              </a:defRPr>
            </a:pPr>
            <a:r>
              <a:t>GIT-LOOPY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182112"/>
            <a:ext cx="493775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7FB"/>
                </a:solidFill>
                <a:latin typeface="Aptos Display"/>
              </a:defRPr>
            </a:pPr>
            <a:r>
              <a:t>Repeatable, observable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712463"/>
            <a:ext cx="4937759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Fresh bounded Iterations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Progress, cost, strikes, and durability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- Commit, closure, push, and accounting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01952" y="5486400"/>
            <a:ext cx="8366760" cy="54864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596128"/>
            <a:ext cx="7955279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Autonomy delegates production. Accountability stays with the human.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README.md: Loop engineer | Echo wiki: AI Engineering Loop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9182A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9182A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COMPOSABLE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Small disciplines beat one giant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Use only the skills the work needs. Each one addresses a predictable failure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075688"/>
            <a:ext cx="3767328" cy="324612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75688"/>
            <a:ext cx="3767328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3328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C9F0"/>
                </a:solidFill>
                <a:latin typeface="Consolas"/>
              </a:defRPr>
            </a:pPr>
            <a:r>
              <a:t>SHAPE + 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481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743200"/>
            <a:ext cx="1847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capture messy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1481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/grill-with-docs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3209544"/>
            <a:ext cx="1847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align + persist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7"/>
            <a:ext cx="1481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/wayfinder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675887"/>
            <a:ext cx="1847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map planning too large for one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42231"/>
            <a:ext cx="1481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142231"/>
            <a:ext cx="1847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resolve facts from primary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08575"/>
            <a:ext cx="14813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4608575"/>
            <a:ext cx="1847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buy a runnable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2075688"/>
            <a:ext cx="3364992" cy="324612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0288" y="2075688"/>
            <a:ext cx="3364992" cy="6400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2304288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84FC"/>
                </a:solidFill>
                <a:latin typeface="Consolas"/>
              </a:defRPr>
            </a:pPr>
            <a:r>
              <a:t>SPECIFY + SLICE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743200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/to-spec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9134" y="2743200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record the durable destination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3438144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/to-tickets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9134" y="3438144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create dependency-aware tracer bullets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4133087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9134" y="4133087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open the ready-for-agent gate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2075688"/>
            <a:ext cx="3364992" cy="3246120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2075688"/>
            <a:ext cx="3364992" cy="6400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304288"/>
            <a:ext cx="2926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3E635"/>
                </a:solidFill>
                <a:latin typeface="Consolas"/>
              </a:defRPr>
            </a:pPr>
            <a:r>
              <a:t>BUILD + 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743200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/tdd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3582" y="2743200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one behavior, red to 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438144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/diagnosing-bugs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3582" y="3438144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reproduce before changing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133087"/>
            <a:ext cx="144694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4F7FB"/>
                </a:solidFill>
                <a:latin typeface="Consolas"/>
              </a:defRPr>
            </a:pPr>
            <a:r>
              <a:t>/code-review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3582" y="4133087"/>
            <a:ext cx="1480596" cy="6492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judge standards + originating spec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5559552"/>
            <a:ext cx="10936224" cy="530352"/>
          </a:xfrm>
          <a:prstGeom prst="roundRect">
            <a:avLst/>
          </a:prstGeom>
          <a:solidFill>
            <a:srgbClr val="09182A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641848"/>
            <a:ext cx="10378440" cy="32004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A9B8CC"/>
                </a:solidFill>
                <a:latin typeface="Aptos"/>
              </a:rPr>
              <a:t>Interactive path: </a:t>
            </a:r>
            <a:r>
              <a:rPr sz="1080" b="1">
                <a:solidFill>
                  <a:srgbClr val="C084FC"/>
                </a:solidFill>
                <a:latin typeface="Consolas"/>
              </a:rPr>
              <a:t>/implement</a:t>
            </a:r>
            <a:r>
              <a:rPr sz="1080" b="0">
                <a:solidFill>
                  <a:srgbClr val="A9B8CC"/>
                </a:solidFill>
                <a:latin typeface="Aptos"/>
              </a:rPr>
              <a:t> orchestrates </a:t>
            </a:r>
            <a:r>
              <a:rPr sz="1080" b="1">
                <a:solidFill>
                  <a:srgbClr val="A3E635"/>
                </a:solidFill>
                <a:latin typeface="Consolas"/>
              </a:rPr>
              <a:t>/tdd</a:t>
            </a:r>
            <a:r>
              <a:rPr sz="1080" b="0">
                <a:solidFill>
                  <a:srgbClr val="A9B8CC"/>
                </a:solidFill>
                <a:latin typeface="Aptos"/>
              </a:rPr>
              <a:t> + </a:t>
            </a:r>
            <a:r>
              <a:rPr sz="1080" b="1">
                <a:solidFill>
                  <a:srgbClr val="A3E635"/>
                </a:solidFill>
                <a:latin typeface="Consolas"/>
              </a:rPr>
              <a:t>/code-review</a:t>
            </a:r>
            <a:r>
              <a:rPr sz="1080" b="0">
                <a:solidFill>
                  <a:srgbClr val="A9B8CC"/>
                </a:solidFill>
                <a:latin typeface="Aptos"/>
              </a:rPr>
              <a:t>. Autonomous path: </a:t>
            </a:r>
            <a:r>
              <a:rPr sz="1080" b="1">
                <a:solidFill>
                  <a:srgbClr val="4CC9F0"/>
                </a:solidFill>
                <a:latin typeface="Consolas"/>
              </a:rPr>
              <a:t>git-loopy</a:t>
            </a:r>
            <a:r>
              <a:rPr sz="1080" b="0">
                <a:solidFill>
                  <a:srgbClr val="A9B8CC"/>
                </a:solidFill>
                <a:latin typeface="Aptos"/>
              </a:rPr>
              <a:t> performs that orchestration one Active issue per Iteration.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README.md: The skills and their purpose | .reference/: Matt Pocock skills workflow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7111F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7111F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Human-led planning creates a safe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The loop engineer resolves decisions; skills make intent durable and executable.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084831"/>
            <a:ext cx="2011680" cy="310896"/>
          </a:xfrm>
          <a:prstGeom prst="roundRect">
            <a:avLst/>
          </a:prstGeom>
          <a:solidFill>
            <a:srgbClr val="17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098548"/>
            <a:ext cx="1865376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C9F0"/>
                </a:solidFill>
                <a:latin typeface="Consolas"/>
              </a:defRPr>
            </a:pPr>
            <a:r>
              <a:t>HUMAN-LED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7432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2743200"/>
            <a:ext cx="73152" cy="107899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8986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Vague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644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messy intent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2615184" y="3127248"/>
            <a:ext cx="173736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25496" y="27432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25496" y="2743200"/>
            <a:ext cx="73152" cy="1078992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28986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Shared 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2644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/grill-with-docs</a:t>
            </a:r>
          </a:p>
        </p:txBody>
      </p:sp>
      <p:sp>
        <p:nvSpPr>
          <p:cNvPr id="20" name="Chevron 19"/>
          <p:cNvSpPr/>
          <p:nvPr/>
        </p:nvSpPr>
        <p:spPr>
          <a:xfrm>
            <a:off x="4855464" y="3127248"/>
            <a:ext cx="173736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776" y="27432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5776" y="2743200"/>
            <a:ext cx="73152" cy="107899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656" y="28986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Durable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2644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/to-spec</a:t>
            </a:r>
          </a:p>
        </p:txBody>
      </p:sp>
      <p:sp>
        <p:nvSpPr>
          <p:cNvPr id="25" name="Chevron 24"/>
          <p:cNvSpPr/>
          <p:nvPr/>
        </p:nvSpPr>
        <p:spPr>
          <a:xfrm>
            <a:off x="7095744" y="3127248"/>
            <a:ext cx="173736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06056" y="27432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6" y="2743200"/>
            <a:ext cx="73152" cy="10789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8986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Tracer-bullet tickets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2644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/to-tickets</a:t>
            </a:r>
          </a:p>
        </p:txBody>
      </p:sp>
      <p:sp>
        <p:nvSpPr>
          <p:cNvPr id="30" name="Chevron 29"/>
          <p:cNvSpPr/>
          <p:nvPr/>
        </p:nvSpPr>
        <p:spPr>
          <a:xfrm>
            <a:off x="9336024" y="3127248"/>
            <a:ext cx="173736" cy="274320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46336" y="2743200"/>
            <a:ext cx="1993392" cy="107899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46336" y="2743200"/>
            <a:ext cx="73152" cy="107899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289864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ready-for-agent Pool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3264408"/>
            <a:ext cx="1700784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/triage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4224528"/>
            <a:ext cx="6812280" cy="117043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453128"/>
            <a:ext cx="3611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B"/>
                </a:solidFill>
                <a:latin typeface="Aptos Display"/>
              </a:defRPr>
            </a:pPr>
            <a:r>
              <a:t>Buy evidence when discussion is not enough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4425696"/>
            <a:ext cx="1143000" cy="310896"/>
          </a:xfrm>
          <a:prstGeom prst="roundRect">
            <a:avLst/>
          </a:prstGeom>
          <a:solidFill>
            <a:srgbClr val="1B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4439412"/>
            <a:ext cx="996696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/research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25312" y="4425696"/>
            <a:ext cx="1234440" cy="310896"/>
          </a:xfrm>
          <a:prstGeom prst="roundRect">
            <a:avLst/>
          </a:prstGeom>
          <a:solidFill>
            <a:srgbClr val="2A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4439412"/>
            <a:ext cx="1088136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C084FC"/>
                </a:solidFill>
                <a:latin typeface="Consolas"/>
              </a:defRPr>
            </a:pPr>
            <a:r>
              <a:t>/prototype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4846320"/>
            <a:ext cx="12435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9B8CC"/>
                </a:solidFill>
                <a:latin typeface="Aptos"/>
              </a:defRPr>
            </a:pPr>
            <a:r>
              <a:t>Primary-source facts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4846320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9B8CC"/>
                </a:solidFill>
                <a:latin typeface="Aptos"/>
              </a:defRPr>
            </a:pPr>
            <a:r>
              <a:t>Runnable behavior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4224528"/>
            <a:ext cx="3877056" cy="1170432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18704" y="4453128"/>
            <a:ext cx="1389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F7FB"/>
                </a:solidFill>
                <a:latin typeface="Aptos Display"/>
              </a:defRPr>
            </a:pPr>
            <a:r>
              <a:t>Durable context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4425696"/>
            <a:ext cx="1115568" cy="310896"/>
          </a:xfrm>
          <a:prstGeom prst="roundRect">
            <a:avLst/>
          </a:prstGeom>
          <a:solidFill>
            <a:srgbClr val="17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2" y="4439412"/>
            <a:ext cx="969264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9" b="1">
                <a:solidFill>
                  <a:srgbClr val="4CC9F0"/>
                </a:solidFill>
                <a:latin typeface="Consolas"/>
              </a:defRPr>
            </a:pPr>
            <a:r>
              <a:t>CONTEXT.md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07040" y="4425696"/>
            <a:ext cx="658368" cy="310896"/>
          </a:xfrm>
          <a:prstGeom prst="roundRect">
            <a:avLst/>
          </a:prstGeom>
          <a:solidFill>
            <a:srgbClr val="2A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80192" y="4439412"/>
            <a:ext cx="512063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69" b="1">
                <a:solidFill>
                  <a:srgbClr val="C084FC"/>
                </a:solidFill>
                <a:latin typeface="Consolas"/>
              </a:defRPr>
            </a:pPr>
            <a:r>
              <a:t>ADRs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4864608"/>
            <a:ext cx="323697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9B8CC"/>
                </a:solidFill>
                <a:latin typeface="Aptos"/>
              </a:defRPr>
            </a:pPr>
            <a:r>
              <a:t>Shared language + consequential decisions survive every fresh context.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705856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4F7FB"/>
                </a:solidFill>
                <a:latin typeface="Aptos Display"/>
              </a:defRPr>
            </a:pPr>
            <a:r>
              <a:t>Gate rule: ready-for-agent is an explicit human delegation decision, never a runner guess.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 + docs/workflow.md: Planning phase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9182A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9182A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Autonomous execution stays bounded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A Run uses fresh Iterations. Each serial Iteration works exactly one Active issue.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084831"/>
            <a:ext cx="1508760" cy="310896"/>
          </a:xfrm>
          <a:prstGeom prst="roundRect">
            <a:avLst/>
          </a:prstGeom>
          <a:solidFill>
            <a:srgbClr val="17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098548"/>
            <a:ext cx="1362456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B7CFA"/>
                </a:solidFill>
                <a:latin typeface="Consolas"/>
              </a:defRPr>
            </a:pPr>
            <a:r>
              <a:t>ONE ITERATION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724912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907792"/>
            <a:ext cx="438912" cy="438912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907792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889504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456432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Current ready-for-agent Pool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0208" y="2724912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33088" y="2907792"/>
            <a:ext cx="438912" cy="43891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3088" y="2907792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889504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3456432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One Active issue + Working marker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2724912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79792" y="2907792"/>
            <a:ext cx="438912" cy="43891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2907792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889504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456432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One vertical slice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6912" y="4315968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79792" y="4498848"/>
            <a:ext cx="438912" cy="438912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498848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480559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5047488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Repository feedback loops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50208" y="4315968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33088" y="4498848"/>
            <a:ext cx="438912" cy="438912"/>
          </a:xfrm>
          <a:prstGeom prst="ellipse">
            <a:avLst/>
          </a:prstGeom>
          <a:solidFill>
            <a:srgbClr val="5B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3088" y="4498848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4480559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Persist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5047488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Commit with close keyword + close issue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4315968"/>
            <a:ext cx="2852928" cy="1243584"/>
          </a:xfrm>
          <a:prstGeom prst="roundRect">
            <a:avLst/>
          </a:prstGeom>
          <a:solidFill>
            <a:srgbClr val="10233B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6384" y="4498848"/>
            <a:ext cx="438912" cy="43891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498848"/>
            <a:ext cx="4389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11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2" y="4480559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Account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047488"/>
            <a:ext cx="2487168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A9B8CC"/>
                </a:solidFill>
                <a:latin typeface="Aptos"/>
              </a:defRPr>
            </a:pPr>
            <a:r>
              <a:t>Push, Summary, Checkpoint if needed</a:t>
            </a:r>
          </a:p>
        </p:txBody>
      </p:sp>
      <p:sp>
        <p:nvSpPr>
          <p:cNvPr id="41" name="Chevron 40"/>
          <p:cNvSpPr/>
          <p:nvPr/>
        </p:nvSpPr>
        <p:spPr>
          <a:xfrm>
            <a:off x="3529584" y="3191256"/>
            <a:ext cx="228600" cy="301752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6876288" y="3191256"/>
            <a:ext cx="228600" cy="301752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8586216" y="3986784"/>
            <a:ext cx="256032" cy="256032"/>
          </a:xfrm>
          <a:prstGeom prst="downArrow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 rot="10800000">
            <a:off x="6894576" y="4782312"/>
            <a:ext cx="228600" cy="301752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 rot="10800000">
            <a:off x="3547872" y="4782312"/>
            <a:ext cx="228600" cy="301752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Up Arrow 45"/>
          <p:cNvSpPr/>
          <p:nvPr/>
        </p:nvSpPr>
        <p:spPr>
          <a:xfrm>
            <a:off x="1901952" y="3986784"/>
            <a:ext cx="256032" cy="256032"/>
          </a:xfrm>
          <a:prstGeom prst="upArrow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405872" y="2724912"/>
            <a:ext cx="1133856" cy="2834640"/>
          </a:xfrm>
          <a:prstGeom prst="roundRect">
            <a:avLst/>
          </a:prstGeom>
          <a:solidFill>
            <a:srgbClr val="09182A"/>
          </a:solidFill>
          <a:ln w="1016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43032" y="2944368"/>
            <a:ext cx="859536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CC9F0"/>
                </a:solidFill>
                <a:latin typeface="Consolas"/>
              </a:defRPr>
            </a:pPr>
            <a:r>
              <a:t>GUARDRAILS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3401568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B"/>
                </a:solidFill>
                <a:latin typeface="Aptos Display"/>
              </a:defRPr>
            </a:pPr>
            <a:r>
              <a:t>Fresh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64845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B8C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941064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B"/>
                </a:solidFill>
                <a:latin typeface="Aptos Display"/>
              </a:defRPr>
            </a:pPr>
            <a:r>
              <a:t>Visible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418795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B8C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48056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B"/>
                </a:solidFill>
                <a:latin typeface="Aptos Display"/>
              </a:defRPr>
            </a:pPr>
            <a:r>
              <a:t>Bounded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472744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B8CC"/>
                </a:solidFill>
                <a:latin typeface="Aptos"/>
              </a:defRPr>
            </a:pPr>
            <a:r>
              <a:t>strikes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020056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F7FB"/>
                </a:solidFill>
                <a:latin typeface="Aptos Display"/>
              </a:defRPr>
            </a:pPr>
            <a:r>
              <a:t>Durable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5266944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A9B8CC"/>
                </a:solidFill>
                <a:latin typeface="Aptos"/>
              </a:defRPr>
            </a:pPr>
            <a:r>
              <a:t>git state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 + docs/workflow.md: Execution phase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61320" y="-566928"/>
            <a:ext cx="2057400" cy="2057400"/>
          </a:xfrm>
          <a:prstGeom prst="ellipse">
            <a:avLst/>
          </a:prstGeom>
          <a:solidFill>
            <a:srgbClr val="07111F"/>
          </a:solidFill>
          <a:ln w="1524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82528" y="-54864"/>
            <a:ext cx="1024128" cy="1024128"/>
          </a:xfrm>
          <a:prstGeom prst="ellipse">
            <a:avLst/>
          </a:prstGeom>
          <a:solidFill>
            <a:srgbClr val="07111F"/>
          </a:solidFill>
          <a:ln w="1524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1133856" cy="310896"/>
          </a:xfrm>
          <a:prstGeom prst="roundRect">
            <a:avLst/>
          </a:prstGeom>
          <a:solidFill>
            <a:srgbClr val="10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97764"/>
            <a:ext cx="9875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4114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809F"/>
                </a:solidFill>
                <a:latin typeface="Consolas"/>
              </a:defRPr>
            </a:pPr>
            <a:r>
              <a:t>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41248"/>
            <a:ext cx="10744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4F7FB"/>
                </a:solidFill>
                <a:latin typeface="Aptos Display"/>
              </a:defRPr>
            </a:pPr>
            <a:r>
              <a:t>The complete loop: vague idea to accepted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9B8CC"/>
                </a:solidFill>
                <a:latin typeface="Aptos"/>
              </a:defRPr>
            </a:pPr>
            <a:r>
              <a:t>Planning decides what should happen. git-loopy executes ready work. The loop engineer judges what happened.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121408"/>
            <a:ext cx="6528816" cy="420624"/>
          </a:xfrm>
          <a:prstGeom prst="roundRect">
            <a:avLst/>
          </a:prstGeom>
          <a:solidFill>
            <a:srgbClr val="17304A"/>
          </a:solidFill>
          <a:ln w="1016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03704"/>
            <a:ext cx="619963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C9F0"/>
                </a:solidFill>
                <a:latin typeface="Consolas"/>
              </a:defRPr>
            </a:pPr>
            <a:r>
              <a:t>HUMAN-LED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2121408"/>
            <a:ext cx="4261104" cy="420624"/>
          </a:xfrm>
          <a:prstGeom prst="roundRect">
            <a:avLst/>
          </a:prstGeom>
          <a:solidFill>
            <a:srgbClr val="172740"/>
          </a:solidFill>
          <a:ln w="10160">
            <a:solidFill>
              <a:srgbClr val="5B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2203704"/>
            <a:ext cx="3931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B7CFA"/>
                </a:solidFill>
                <a:latin typeface="Consolas"/>
              </a:defRPr>
            </a:pPr>
            <a:r>
              <a:t>AUTONOMOUS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889504"/>
            <a:ext cx="1481328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08960"/>
            <a:ext cx="126187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Vague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66160"/>
            <a:ext cx="12618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B7185"/>
                </a:solidFill>
                <a:latin typeface="Consolas"/>
              </a:defRPr>
            </a:pPr>
            <a:r>
              <a:t>intent</a:t>
            </a:r>
          </a:p>
        </p:txBody>
      </p:sp>
      <p:sp>
        <p:nvSpPr>
          <p:cNvPr id="16" name="Chevron 15"/>
          <p:cNvSpPr/>
          <p:nvPr/>
        </p:nvSpPr>
        <p:spPr>
          <a:xfrm>
            <a:off x="2112264" y="3310128"/>
            <a:ext cx="182880" cy="292608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22576" y="2889504"/>
            <a:ext cx="1737360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3108960"/>
            <a:ext cx="15179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Shape +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3566160"/>
            <a:ext cx="151790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C9F0"/>
                </a:solidFill>
                <a:latin typeface="Consolas"/>
              </a:defRPr>
            </a:pPr>
            <a:r>
              <a:t>skills</a:t>
            </a:r>
          </a:p>
        </p:txBody>
      </p:sp>
      <p:sp>
        <p:nvSpPr>
          <p:cNvPr id="20" name="Chevron 19"/>
          <p:cNvSpPr/>
          <p:nvPr/>
        </p:nvSpPr>
        <p:spPr>
          <a:xfrm>
            <a:off x="4087368" y="3310128"/>
            <a:ext cx="182880" cy="292608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2889504"/>
            <a:ext cx="1170432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108960"/>
            <a:ext cx="95097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Spec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566160"/>
            <a:ext cx="95097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84FC"/>
                </a:solidFill>
                <a:latin typeface="Consolas"/>
              </a:defRPr>
            </a:pPr>
            <a:r>
              <a:t>destination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5495544" y="3310128"/>
            <a:ext cx="182880" cy="292608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05856" y="2889504"/>
            <a:ext cx="1682496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4" y="3108960"/>
            <a:ext cx="1463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Tickets +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3566160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BBF24"/>
                </a:solidFill>
                <a:latin typeface="Consolas"/>
              </a:defRPr>
            </a:pPr>
            <a:r>
              <a:t>route + gate</a:t>
            </a:r>
          </a:p>
        </p:txBody>
      </p:sp>
      <p:sp>
        <p:nvSpPr>
          <p:cNvPr id="28" name="Chevron 27"/>
          <p:cNvSpPr/>
          <p:nvPr/>
        </p:nvSpPr>
        <p:spPr>
          <a:xfrm>
            <a:off x="7415783" y="3310128"/>
            <a:ext cx="182880" cy="292608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26096" y="2889504"/>
            <a:ext cx="1664208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5B7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35823" y="3108960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git-loopy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3" y="3566160"/>
            <a:ext cx="144475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B7CFA"/>
                </a:solidFill>
                <a:latin typeface="Consolas"/>
              </a:defRPr>
            </a:pPr>
            <a:r>
              <a:t>Iterations</a:t>
            </a:r>
          </a:p>
        </p:txBody>
      </p:sp>
      <p:sp>
        <p:nvSpPr>
          <p:cNvPr id="32" name="Chevron 31"/>
          <p:cNvSpPr/>
          <p:nvPr/>
        </p:nvSpPr>
        <p:spPr>
          <a:xfrm>
            <a:off x="9317736" y="3310128"/>
            <a:ext cx="182880" cy="292608"/>
          </a:xfrm>
          <a:prstGeom prst="chevron">
            <a:avLst/>
          </a:prstGeom>
          <a:solidFill>
            <a:srgbClr val="678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28048" y="2889504"/>
            <a:ext cx="1737360" cy="1143000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7776" y="3108960"/>
            <a:ext cx="15179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F7FB"/>
                </a:solidFill>
                <a:latin typeface="Aptos Display"/>
              </a:defRPr>
            </a:pPr>
            <a:r>
              <a:t>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3566160"/>
            <a:ext cx="151790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CC9F0"/>
                </a:solidFill>
                <a:latin typeface="Consolas"/>
              </a:defRPr>
            </a:pPr>
            <a:r>
              <a:t>judgment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2" y="4663440"/>
            <a:ext cx="4187952" cy="822960"/>
          </a:xfrm>
          <a:prstGeom prst="roundRect">
            <a:avLst/>
          </a:prstGeom>
          <a:solidFill>
            <a:srgbClr val="193329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4837176"/>
            <a:ext cx="3749039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3E635"/>
                </a:solidFill>
                <a:latin typeface="Consolas"/>
              </a:defRPr>
            </a:pPr>
            <a:r>
              <a:t>ACCEPTED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5102352"/>
            <a:ext cx="374903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4F7FB"/>
                </a:solidFill>
                <a:latin typeface="Aptos"/>
              </a:defRPr>
            </a:pPr>
            <a:r>
              <a:t>Validated software + accountable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742432"/>
            <a:ext cx="101498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9B8CC"/>
                </a:solidFill>
                <a:latin typeface="Aptos"/>
              </a:defRPr>
            </a:pPr>
            <a:r>
              <a:t>If the result misses the bar, reopen the issue or create a smaller slice and send it through the gate again.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6528816"/>
            <a:ext cx="8138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README.md: Complete loop workflow | docs/workflow.md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0138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99248" y="749808"/>
            <a:ext cx="3611880" cy="3611880"/>
          </a:xfrm>
          <a:prstGeom prst="ellipse">
            <a:avLst/>
          </a:prstGeom>
          <a:solidFill>
            <a:srgbClr val="09182A"/>
          </a:solidFill>
          <a:ln w="25400">
            <a:solidFill>
              <a:srgbClr val="1B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94192" y="1444752"/>
            <a:ext cx="2221992" cy="2221992"/>
          </a:xfrm>
          <a:prstGeom prst="ellipse">
            <a:avLst/>
          </a:prstGeom>
          <a:solidFill>
            <a:srgbClr val="07111F"/>
          </a:solidFill>
          <a:ln w="254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70264" y="2020824"/>
            <a:ext cx="1069848" cy="1069848"/>
          </a:xfrm>
          <a:prstGeom prst="ellipse">
            <a:avLst/>
          </a:prstGeom>
          <a:solidFill>
            <a:srgbClr val="1B3658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70264" y="2386584"/>
            <a:ext cx="10698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3E635"/>
                </a:solidFill>
                <a:latin typeface="Consolas"/>
              </a:defRPr>
            </a:pPr>
            <a:r>
              <a:t>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585216"/>
            <a:ext cx="1225296" cy="310896"/>
          </a:xfrm>
          <a:prstGeom prst="roundRect">
            <a:avLst/>
          </a:prstGeom>
          <a:solidFill>
            <a:srgbClr val="1B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98932"/>
            <a:ext cx="107899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git-loopy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6400800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4F7FB"/>
                </a:solidFill>
                <a:latin typeface="Aptos Display"/>
              </a:defRPr>
            </a:pPr>
            <a:r>
              <a:t>Engineer the loop,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4F7FB"/>
                </a:solidFill>
                <a:latin typeface="Aptos Display"/>
              </a:defRPr>
            </a:pPr>
            <a:r>
              <a:t>not the prompt.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54096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CC9F0"/>
                </a:solidFill>
                <a:latin typeface="Consolas"/>
              </a:defRPr>
            </a:pPr>
            <a:r>
              <a:t>The operating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93008"/>
            <a:ext cx="4023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483864"/>
            <a:ext cx="44988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Shape intent before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05072"/>
            <a:ext cx="4023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C084F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95928"/>
            <a:ext cx="44988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Slice work smaller than the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17136"/>
            <a:ext cx="4023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A3E63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507992"/>
            <a:ext cx="44988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Make feedback and progress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29200"/>
            <a:ext cx="4023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BBF2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5020056"/>
            <a:ext cx="44988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F7FB"/>
                </a:solidFill>
                <a:latin typeface="Aptos Display"/>
              </a:defRPr>
            </a:pPr>
            <a:r>
              <a:t>Keep final judgment human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1424" y="4754880"/>
            <a:ext cx="4462272" cy="950976"/>
          </a:xfrm>
          <a:prstGeom prst="roundRect">
            <a:avLst/>
          </a:prstGeom>
          <a:solidFill>
            <a:srgbClr val="10233B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965192"/>
            <a:ext cx="393192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F4F7FB"/>
                </a:solidFill>
                <a:latin typeface="Aptos Display"/>
              </a:defRPr>
            </a:pPr>
            <a:r>
              <a:t>Human-led planning -&gt; autonomous execution -&gt; accepted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08076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CC9F0"/>
                </a:solidFill>
                <a:latin typeface="Consolas"/>
              </a:defRPr>
            </a:pPr>
            <a:r>
              <a:t>github.com/bradcstevens/git-loopy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6117336"/>
            <a:ext cx="5623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7809F"/>
                </a:solidFill>
                <a:latin typeface="Consolas"/>
              </a:defRPr>
            </a:pPr>
            <a:r>
              <a:t>Sources: README.md, CONTEXT.md, docs/workflow.md, .reference/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37376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4CC9F0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Vibes to Value: An Introduction to Loop Engineering</dc:title>
  <dc:subject>git-loopy, composable agent skills, and the complete loop workflow</dc:subject>
  <dc:creator>Brad Stevens</dc:creator>
  <cp:keywords>git-loopy, loop engineering, loop engineer, agent skills, GitHub Copilot SDK</cp:keywords>
  <dc:description>Rebuilt for issue #77 from README.md, CONTEXT.md, docs/workflow.md, and the checked-in .reference material.</dc:description>
  <cp:lastModifiedBy>Brad Stevens</cp:lastModifiedBy>
  <cp:revision>1</cp:revision>
  <dcterms:created xsi:type="dcterms:W3CDTF">2026-07-18T08:22:52Z</dcterms:created>
  <dcterms:modified xsi:type="dcterms:W3CDTF">2026-07-18T08:22:52Z</dcterms:modified>
  <cp:category>Loop engineering</cp:category>
  <cp:contentStatus>Final</cp:contentStatus>
</cp:coreProperties>
</file>